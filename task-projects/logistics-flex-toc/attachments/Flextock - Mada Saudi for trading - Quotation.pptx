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85E2C7-DC33-4DFD-9A54-CBBE110414F1}">
  <a:tblStyle styleId="{CB85E2C7-DC33-4DFD-9A54-CBBE110414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ef02d0a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ef02d0a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ef02d0a2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ef02d0a2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ef02d0a2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ef02d0a2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200"/>
            <a:ext cx="2676000" cy="4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 rot="2480411">
            <a:off x="5524508" y="-451590"/>
            <a:ext cx="5440190" cy="628322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2726244934"/>
              </p:ext>
            </p:extLst>
          </p:nvPr>
        </p:nvGraphicFramePr>
        <p:xfrm>
          <a:off x="226426" y="763926"/>
          <a:ext cx="8406225" cy="4118850"/>
        </p:xfrm>
        <a:graphic>
          <a:graphicData uri="http://schemas.openxmlformats.org/drawingml/2006/table">
            <a:tbl>
              <a:tblPr>
                <a:noFill/>
                <a:tableStyleId>{CB85E2C7-DC33-4DFD-9A54-CBBE110414F1}</a:tableStyleId>
              </a:tblPr>
              <a:tblGrid>
                <a:gridCol w="28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300"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/>
                        <a:t>التفاصيل</a:t>
                      </a:r>
                      <a:endParaRPr sz="15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/>
                        <a:t>الرسوم</a:t>
                      </a:r>
                      <a:endParaRPr sz="15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/>
                        <a:t>الخدمة</a:t>
                      </a:r>
                      <a:endParaRPr sz="15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1m x 1.2m x 1.5m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0.9 x 0.45 x 0.40 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dirty="0"/>
                        <a:t>الطبليه بالشهر 65 ريال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التخزين 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تجهيز الطلب يشمل :</a:t>
                      </a:r>
                      <a:r>
                        <a:rPr lang="ar-SA" dirty="0"/>
                        <a:t> لحد 4 قطع</a:t>
                      </a:r>
                      <a:endParaRPr dirty="0"/>
                    </a:p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-تحضير الطلب.</a:t>
                      </a:r>
                      <a:endParaRPr dirty="0"/>
                    </a:p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-طباعة البوليصة</a:t>
                      </a:r>
                      <a:endParaRPr dirty="0"/>
                    </a:p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-تغليف الطلب.</a:t>
                      </a:r>
                      <a:br>
                        <a:rPr lang="ar-SA" dirty="0"/>
                      </a:br>
                      <a:r>
                        <a:rPr lang="ar-SA" dirty="0"/>
                        <a:t>القطعه الزياده 50 هلله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dirty="0"/>
                        <a:t>4</a:t>
                      </a:r>
                      <a:r>
                        <a:rPr lang="en-US" dirty="0"/>
                        <a:t> </a:t>
                      </a:r>
                      <a:r>
                        <a:rPr lang="en" dirty="0"/>
                        <a:t>SAR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تحضير الطلب 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-يتم طباعة الباركود للمنتجات المستلمة.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0.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10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SAR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استلام المنتجات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-ربط المتجر الالكتروني بشكل مجاني مع نظام فلكستوك.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Free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الربط مع </a:t>
                      </a:r>
                      <a:endParaRPr dirty="0"/>
                    </a:p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الموقع الإلكتروني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7" name="Google Shape;57;p13" descr="رجل توصيل مع طرد | صور فيكتور علي نطاق العامة"/>
          <p:cNvPicPr preferRelativeResize="0"/>
          <p:nvPr/>
        </p:nvPicPr>
        <p:blipFill rotWithShape="1">
          <a:blip r:embed="rId4">
            <a:alphaModFix/>
          </a:blip>
          <a:srcRect b="14030"/>
          <a:stretch/>
        </p:blipFill>
        <p:spPr>
          <a:xfrm>
            <a:off x="7869551" y="2435383"/>
            <a:ext cx="732575" cy="8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descr="Pallets vector clip art | Free SVG"/>
          <p:cNvPicPr preferRelativeResize="0"/>
          <p:nvPr/>
        </p:nvPicPr>
        <p:blipFill>
          <a:blip r:embed="rId5">
            <a:alphaModFix amt="56000"/>
          </a:blip>
          <a:stretch>
            <a:fillRect/>
          </a:stretch>
        </p:blipFill>
        <p:spPr>
          <a:xfrm>
            <a:off x="7869551" y="3495350"/>
            <a:ext cx="655076" cy="65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descr="Pastel colored wooden crate vector image | Public domain vector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9026" y="1550261"/>
            <a:ext cx="1053100" cy="49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File:Blue computer icon.svg - Wikimedia Common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70177" y="4200815"/>
            <a:ext cx="655073" cy="655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200"/>
            <a:ext cx="2676000" cy="4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 rot="2480411">
            <a:off x="5524508" y="-451590"/>
            <a:ext cx="5440190" cy="628322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7" name="Google Shape;67;p14"/>
          <p:cNvGraphicFramePr/>
          <p:nvPr>
            <p:extLst>
              <p:ext uri="{D42A27DB-BD31-4B8C-83A1-F6EECF244321}">
                <p14:modId xmlns:p14="http://schemas.microsoft.com/office/powerpoint/2010/main" val="2594215180"/>
              </p:ext>
            </p:extLst>
          </p:nvPr>
        </p:nvGraphicFramePr>
        <p:xfrm>
          <a:off x="289228" y="671375"/>
          <a:ext cx="8406225" cy="3692130"/>
        </p:xfrm>
        <a:graphic>
          <a:graphicData uri="http://schemas.openxmlformats.org/drawingml/2006/table">
            <a:tbl>
              <a:tblPr>
                <a:noFill/>
                <a:tableStyleId>{CB85E2C7-DC33-4DFD-9A54-CBBE110414F1}</a:tableStyleId>
              </a:tblPr>
              <a:tblGrid>
                <a:gridCol w="28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/>
                        <a:t>التفاصيل</a:t>
                      </a:r>
                      <a:endParaRPr sz="15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/>
                        <a:t>الرسوم</a:t>
                      </a:r>
                      <a:endParaRPr sz="1500" b="1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/>
                        <a:t>الخدمة</a:t>
                      </a:r>
                      <a:endParaRPr sz="1500" b="1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-يشمل السعر اول 15كيلو </a:t>
                      </a:r>
                      <a:r>
                        <a:rPr lang="ar-SA" dirty="0"/>
                        <a:t>وزن</a:t>
                      </a:r>
                      <a:r>
                        <a:rPr lang="en" dirty="0"/>
                        <a:t> وسيتم اضافة 2 ريال لكل كيلو إضافي .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18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 SAR </a:t>
                      </a: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شحن مبرد 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التوصيل داخل الرياض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-يشمل السعر اول 15 كيلو</a:t>
                      </a: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 وزن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 وسيتم اضافة 2 ريال لكل كيلو إضافي .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ar-SA" dirty="0">
                          <a:solidFill>
                            <a:schemeClr val="dk1"/>
                          </a:solidFill>
                        </a:rPr>
                        <a:t>19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 SAR </a:t>
                      </a:r>
                      <a:r>
                        <a:rPr lang="ar-SA">
                          <a:solidFill>
                            <a:schemeClr val="dk1"/>
                          </a:solidFill>
                        </a:rPr>
                        <a:t>شحن مبرد</a:t>
                      </a:r>
                      <a:br>
                        <a:rPr lang="ar-SA" dirty="0">
                          <a:solidFill>
                            <a:schemeClr val="dk1"/>
                          </a:solidFill>
                        </a:rPr>
                      </a:br>
                      <a:endParaRPr lang="ar-SA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التوصيل</a:t>
                      </a:r>
                      <a:br>
                        <a:rPr lang="ar-SA" dirty="0"/>
                      </a:br>
                      <a:r>
                        <a:rPr lang="en" dirty="0"/>
                        <a:t>خارج الرياض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-يتم احتساب سعر الشحن لكل شحنة في حال الاستبدال والاسترجاع .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مطابق سعر الشحنة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الاستبدال والاسترجاع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المرتجعات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300">
                <a:tc>
                  <a:txBody>
                    <a:bodyPr/>
                    <a:lstStyle/>
                    <a:p>
                      <a:pPr marL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-يتم تحصيل المبالغ المستلمة من شركات الشحن وتحويلها لصاحب المتجر بشكل أسبوعي.</a:t>
                      </a:r>
                      <a:endParaRPr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r>
                        <a:rPr lang="en"/>
                        <a:t> </a:t>
                      </a:r>
                      <a:r>
                        <a:rPr lang="en" dirty="0"/>
                        <a:t>SAR </a:t>
                      </a:r>
                      <a:endParaRPr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2.2% </a:t>
                      </a: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الدفع عند الاستلام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" name="Google Shape;68;p14"/>
          <p:cNvSpPr txBox="1"/>
          <p:nvPr/>
        </p:nvSpPr>
        <p:spPr>
          <a:xfrm>
            <a:off x="3289840" y="4363504"/>
            <a:ext cx="54912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*جميع أسعار الخدمات غير شاملة لضريبة القيمة المضافة</a:t>
            </a:r>
            <a:br>
              <a:rPr lang="ar-SA" sz="1800" dirty="0">
                <a:solidFill>
                  <a:schemeClr val="dk2"/>
                </a:solidFill>
              </a:rPr>
            </a:br>
            <a:r>
              <a:rPr lang="ar-SA" sz="1800" b="1" dirty="0">
                <a:solidFill>
                  <a:schemeClr val="dk2"/>
                </a:solidFill>
              </a:rPr>
              <a:t>المرتجع 11 ريال</a:t>
            </a:r>
          </a:p>
        </p:txBody>
      </p:sp>
      <p:pic>
        <p:nvPicPr>
          <p:cNvPr id="69" name="Google Shape;69;p14" descr="Delivery van | Public domain vectors"/>
          <p:cNvPicPr preferRelativeResize="0"/>
          <p:nvPr/>
        </p:nvPicPr>
        <p:blipFill rotWithShape="1">
          <a:blip r:embed="rId4">
            <a:alphaModFix/>
          </a:blip>
          <a:srcRect b="15761"/>
          <a:stretch/>
        </p:blipFill>
        <p:spPr>
          <a:xfrm>
            <a:off x="7818862" y="1270163"/>
            <a:ext cx="851482" cy="7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descr="Delivery van | Public domain vectors"/>
          <p:cNvPicPr preferRelativeResize="0"/>
          <p:nvPr/>
        </p:nvPicPr>
        <p:blipFill rotWithShape="1">
          <a:blip r:embed="rId4">
            <a:alphaModFix/>
          </a:blip>
          <a:srcRect b="15761"/>
          <a:stretch/>
        </p:blipFill>
        <p:spPr>
          <a:xfrm>
            <a:off x="7777823" y="1982269"/>
            <a:ext cx="851482" cy="71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descr="Recycling symbol - Wikipedi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3728" y="2867881"/>
            <a:ext cx="661725" cy="6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descr="ملف:Saudi Riyal Symbol.svg - ويكيبيديا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3728" y="3615693"/>
            <a:ext cx="591928" cy="66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6322-DC36-4408-855D-F41F0F2E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International Delivery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FBF87-21AD-4CC1-A2F4-52B278383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696D2F1-327B-4C87-BE43-A410AC4A1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39269"/>
              </p:ext>
            </p:extLst>
          </p:nvPr>
        </p:nvGraphicFramePr>
        <p:xfrm>
          <a:off x="906834" y="1629410"/>
          <a:ext cx="5939790" cy="118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KUWAIT</a:t>
                      </a:r>
                      <a:r>
                        <a:rPr sz="1800" b="1" u="sng" spc="-16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 rtl="0">
                        <a:lnSpc>
                          <a:spcPts val="1295"/>
                        </a:lnSpc>
                      </a:pP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32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1905"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00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540" algn="ctr">
                        <a:lnSpc>
                          <a:spcPts val="1270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1F8258F-7512-4595-8DDA-B7293EC42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95454"/>
              </p:ext>
            </p:extLst>
          </p:nvPr>
        </p:nvGraphicFramePr>
        <p:xfrm>
          <a:off x="914717" y="3042666"/>
          <a:ext cx="5939790" cy="118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575"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2060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8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6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UAE</a:t>
                      </a:r>
                      <a:r>
                        <a:rPr sz="1800" b="1" u="sng" spc="-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35"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31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1905"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0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59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00B5-EF0E-4AE4-A2C3-552DE323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International Delivery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5A2B0-40BD-40E3-AAC5-2A03C8CA6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3D58811B-8133-4D83-848F-1688E9277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900196"/>
              </p:ext>
            </p:extLst>
          </p:nvPr>
        </p:nvGraphicFramePr>
        <p:xfrm>
          <a:off x="1064490" y="1316175"/>
          <a:ext cx="5939790" cy="1187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marL="2540" algn="ctr">
                        <a:lnSpc>
                          <a:spcPts val="2085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8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2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BAHRIAN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7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35"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31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1905" algn="ctr">
                        <a:lnSpc>
                          <a:spcPts val="127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7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58B751A8-9EAF-4650-9EDA-644CFDB93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361728"/>
              </p:ext>
            </p:extLst>
          </p:nvPr>
        </p:nvGraphicFramePr>
        <p:xfrm>
          <a:off x="1072373" y="3072585"/>
          <a:ext cx="5882640" cy="118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115">
                <a:tc gridSpan="2"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6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6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OMAN</a:t>
                      </a:r>
                      <a:r>
                        <a:rPr sz="1800" b="1" u="sng" spc="-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6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spc="-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504F-97A7-481C-A09A-E3048871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International delivery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C38A5-3567-4BE3-B936-F4790B5CB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72E4824-C9B4-49FA-A880-1F013BEEC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948224"/>
              </p:ext>
            </p:extLst>
          </p:nvPr>
        </p:nvGraphicFramePr>
        <p:xfrm>
          <a:off x="891069" y="1820839"/>
          <a:ext cx="5939790" cy="1184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575">
                <a:tc gridSpan="2">
                  <a:txBody>
                    <a:bodyPr/>
                    <a:lstStyle/>
                    <a:p>
                      <a:pPr marL="3175" algn="ctr">
                        <a:lnSpc>
                          <a:spcPts val="2060"/>
                        </a:lnSpc>
                      </a:pP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RUH</a:t>
                      </a:r>
                      <a:r>
                        <a:rPr sz="1800" b="1" u="sng" spc="-18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lang="en-US" sz="1800" b="1" u="sng" spc="-6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Qatar</a:t>
                      </a:r>
                      <a:r>
                        <a:rPr sz="1800" b="1" u="sng" spc="-1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5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DELIVERY</a:t>
                      </a:r>
                      <a:r>
                        <a:rPr sz="1800" b="1" u="sng" spc="-175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u="sng" spc="-10" dirty="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rebuchet MS"/>
                          <a:cs typeface="Trebuchet MS"/>
                        </a:rPr>
                        <a:t>SERVICE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635"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D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40" dirty="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sz="11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1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kg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10" dirty="0">
                          <a:latin typeface="Trebuchet MS"/>
                          <a:cs typeface="Trebuchet MS"/>
                        </a:rPr>
                        <a:t>37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1905"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Each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1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30" dirty="0">
                          <a:latin typeface="Trebuchet MS"/>
                          <a:cs typeface="Trebuchet MS"/>
                        </a:rPr>
                        <a:t>kg</a:t>
                      </a:r>
                      <a:r>
                        <a:rPr sz="11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2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1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95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sz="1100" spc="65" dirty="0">
                          <a:latin typeface="Trebuchet MS"/>
                          <a:cs typeface="Trebuchet MS"/>
                        </a:rPr>
                        <a:t>COD</a:t>
                      </a:r>
                      <a:r>
                        <a:rPr sz="11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Charges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70"/>
                        </a:lnSpc>
                      </a:pPr>
                      <a:r>
                        <a:rPr lang="en-US" sz="1100" spc="-20" dirty="0">
                          <a:latin typeface="Trebuchet MS"/>
                          <a:cs typeface="Trebuchet MS"/>
                        </a:rPr>
                        <a:t>6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.00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2540" algn="ctr">
                        <a:lnSpc>
                          <a:spcPts val="1295"/>
                        </a:lnSpc>
                      </a:pPr>
                      <a:r>
                        <a:rPr sz="1100" spc="-35" dirty="0">
                          <a:latin typeface="Trebuchet MS"/>
                          <a:cs typeface="Trebuchet MS"/>
                        </a:rPr>
                        <a:t>Undelivered</a:t>
                      </a:r>
                      <a:r>
                        <a:rPr sz="11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Shipments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sz="1100" dirty="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1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100" spc="-10" dirty="0">
                          <a:latin typeface="Trebuchet MS"/>
                          <a:cs typeface="Trebuchet MS"/>
                        </a:rPr>
                        <a:t>delivery</a:t>
                      </a:r>
                      <a:endParaRPr sz="11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89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50" y="1563675"/>
            <a:ext cx="3917175" cy="7307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 rot="2480411">
            <a:off x="5524508" y="-451590"/>
            <a:ext cx="5440190" cy="628322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631425" y="2385400"/>
            <a:ext cx="3239100" cy="1192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666666"/>
                </a:solidFill>
              </a:rPr>
              <a:t>يسعدنا تواصلكم معنا</a:t>
            </a:r>
            <a:endParaRPr sz="2200" b="1" dirty="0">
              <a:solidFill>
                <a:srgbClr val="666666"/>
              </a:solidFill>
            </a:endParaRP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666666"/>
                </a:solidFill>
              </a:rPr>
              <a:t>0501317305</a:t>
            </a:r>
            <a:endParaRPr sz="2200" b="1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17302</TotalTime>
  <Words>326</Words>
  <Application>Microsoft Office PowerPoint</Application>
  <PresentationFormat>On-screen Show (16:9)</PresentationFormat>
  <Paragraphs>98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Simple Light</vt:lpstr>
      <vt:lpstr>PowerPoint Presentation</vt:lpstr>
      <vt:lpstr>PowerPoint Presentation</vt:lpstr>
      <vt:lpstr>International Delivery Rates</vt:lpstr>
      <vt:lpstr>International Delivery Rates</vt:lpstr>
      <vt:lpstr>International delivery Rates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omar tharwat</cp:lastModifiedBy>
  <cp:revision>51</cp:revision>
  <dcterms:modified xsi:type="dcterms:W3CDTF">2026-10-05T12:55:23Z</dcterms:modified>
</cp:coreProperties>
</file>